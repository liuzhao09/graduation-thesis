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85" r:id="rId3"/>
    <p:sldId id="286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9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66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Acc@1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Gowalla</c:v>
                </c:pt>
                <c:pt idx="1">
                  <c:v>Foursquare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5.49</c:v>
                </c:pt>
                <c:pt idx="1">
                  <c:v>4.53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Gowalla</c:v>
                </c:pt>
                <c:pt idx="1">
                  <c:v>Foursquare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3.59</c:v>
                </c:pt>
                <c:pt idx="1">
                  <c:v>3.99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2"/>
          <c:min val="0"/>
        </c:scaling>
        <c:delete val="0"/>
        <c:axPos val="l"/>
        <c:majorGridlines>
          <c:spPr>
            <a:ln w="6350" cap="flat" cmpd="sng" algn="ctr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53f32de-c740-4ac1-b214-021d451ef82e}"/>
      </c:ext>
    </c:extLst>
  </c:chart>
  <c:spPr>
    <a:noFill/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Acc@1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18.27</c:v>
                </c:pt>
                <c:pt idx="1">
                  <c:v>14.73</c:v>
                </c:pt>
                <c:pt idx="2">
                  <c:v>16.69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Acc@5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17.77</c:v>
                </c:pt>
                <c:pt idx="1">
                  <c:v>19.2</c:v>
                </c:pt>
                <c:pt idx="2">
                  <c:v>24.1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MRR@5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12.62</c:v>
                </c:pt>
                <c:pt idx="1">
                  <c:v>8.23</c:v>
                </c:pt>
                <c:pt idx="2">
                  <c:v>13.95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"/>
          <c:min val="0"/>
        </c:scaling>
        <c:delete val="0"/>
        <c:axPos val="l"/>
        <c:majorGridlines>
          <c:spPr>
            <a:ln w="6350" cap="flat" cmpd="sng" algn="ctr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cd3e417-6b0a-4630-b3b5-885096c9f0e7}"/>
      </c:ext>
    </c:extLst>
  </c:chart>
  <c:spPr>
    <a:noFill/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0.3988</c:v>
                </c:pt>
                <c:pt idx="1">
                  <c:v>0.3482</c:v>
                </c:pt>
                <c:pt idx="2">
                  <c:v>0.2566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w/o GCIM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0.3729</c:v>
                </c:pt>
                <c:pt idx="1">
                  <c:v>0.337</c:v>
                </c:pt>
                <c:pt idx="2">
                  <c:v>0.2402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w/o PAM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0.3901</c:v>
                </c:pt>
                <c:pt idx="1">
                  <c:v>0.3468</c:v>
                </c:pt>
                <c:pt idx="2">
                  <c:v>0.2499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6350" cap="flat" cmpd="sng" algn="ctr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3a3ef82-7bab-4795-b8e0-33ae2d68802d}"/>
      </c:ext>
    </c:extLst>
  </c:chart>
  <c:spPr>
    <a:noFill/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/>
        </p:nvGrpSpPr>
        <p:grpSpPr>
          <a:xfrm>
            <a:off x="2345056" y="2174045"/>
            <a:ext cx="7245350" cy="2626499"/>
            <a:chOff x="2570037" y="2714662"/>
            <a:chExt cx="6810774" cy="2468960"/>
          </a:xfrm>
        </p:grpSpPr>
        <p:sp>
          <p:nvSpPr>
            <p:cNvPr id="12" name="矩形 11"/>
            <p:cNvSpPr/>
            <p:nvPr/>
          </p:nvSpPr>
          <p:spPr>
            <a:xfrm>
              <a:off x="3632200" y="3429000"/>
              <a:ext cx="4927600" cy="404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endPara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70037" y="2714662"/>
              <a:ext cx="6810774" cy="808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23</a:t>
              </a:r>
              <a:r>
                <a:rPr lang="zh-CN" altLang="en-US" sz="5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届研究生学位申请</a:t>
              </a:r>
              <a:r>
                <a:rPr lang="zh-CN" altLang="en-US" sz="5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答辩</a:t>
              </a:r>
              <a:endParaRPr lang="zh-CN" altLang="en-US" sz="5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 flipH="1">
              <a:off x="5088954" y="4701022"/>
              <a:ext cx="2032000" cy="482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xxx</a:t>
              </a:r>
              <a:endParaRPr lang="en-US" altLang="zh-CN" dirty="0"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学位申请信息一览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中山大学人工智能学院 · 研究生学位申请与答辩前置材料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125" y="1307465"/>
            <a:ext cx="1270" cy="4334510"/>
          </a:xfrm>
          <a:prstGeom prst="line">
            <a:avLst/>
          </a:prstGeom>
          <a:noFill/>
          <a:ln w="1397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1426464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1353312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姓名：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112264" y="1362456"/>
            <a:ext cx="32461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刘钊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86384" y="1920240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847088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学号：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2112264" y="1856232"/>
            <a:ext cx="32461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23214878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86384" y="2414016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2340864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专业：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2112264" y="2350008"/>
            <a:ext cx="356616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085410 人工智能（全日制专业学位硕士）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86384" y="290779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2834640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导师：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112264" y="2843784"/>
            <a:ext cx="32461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刘威（副教授）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86384" y="3401568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3328416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培养：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2112264" y="3337560"/>
            <a:ext cx="3749040" cy="4023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已修 33 学分；必修 29 学分（要求 18）；满足培养方案要求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86384" y="405079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3977640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学术成果：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2112264" y="3986784"/>
            <a:ext cx="3749040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2 篇：WISE 2024（CCF B）；ICDE 2026（CCF A，Accepted）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417320" y="4617720"/>
            <a:ext cx="44348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成果均围绕 Next POI 预测与大小模型协同学习主线展开。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6446520" y="1426464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1353312"/>
            <a:ext cx="18745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学位论文题目：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702552" y="1737360"/>
            <a:ext cx="48006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面向出行位置点预测的大小模型协同学习研究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446520" y="2322576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249424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送审结果：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7772400" y="2258568"/>
            <a:ext cx="374904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评阅类型：硕士盲审两份；评阅结果：通过</a:t>
            </a:r>
            <a:endParaRPr lang="en-US" sz="16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11290" y="2660650"/>
          <a:ext cx="4918710" cy="1325880"/>
        </p:xfrm>
        <a:graphic>
          <a:graphicData uri="http://schemas.openxmlformats.org/drawingml/2006/table">
            <a:tbl>
              <a:tblPr/>
              <a:tblGrid>
                <a:gridCol w="1193800"/>
                <a:gridCol w="716280"/>
                <a:gridCol w="1910080"/>
                <a:gridCol w="1098550"/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专家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答辩结论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校优推荐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盲审专家1</a:t>
                      </a:r>
                      <a:endParaRPr lang="en-US" sz="1200" b="1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1200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同意答辩（A）</a:t>
                      </a:r>
                      <a:endParaRPr lang="en-US" sz="1200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200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盲审专家2</a:t>
                      </a:r>
                      <a:endParaRPr lang="en-US" sz="1200" b="1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</a:t>
                      </a:r>
                      <a:endParaRPr lang="en-US" sz="1200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修改后答辩（B）</a:t>
                      </a:r>
                      <a:endParaRPr lang="en-US" sz="1200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200" dirty="0">
                        <a:solidFill>
                          <a:srgbClr val="1E2732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446520" y="437083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02552" y="4297680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复审情况：</a:t>
            </a:r>
            <a:endParaRPr lang="en-US" sz="1750" dirty="0"/>
          </a:p>
        </p:txBody>
      </p:sp>
      <p:sp>
        <p:nvSpPr>
          <p:cNvPr id="45" name="Text 42"/>
          <p:cNvSpPr/>
          <p:nvPr/>
        </p:nvSpPr>
        <p:spPr>
          <a:xfrm>
            <a:off x="7772400" y="4306824"/>
            <a:ext cx="36576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无；当前系统评阅结果为通过</a:t>
            </a:r>
            <a:endParaRPr lang="en-US" sz="1650" dirty="0"/>
          </a:p>
        </p:txBody>
      </p:sp>
      <p:sp>
        <p:nvSpPr>
          <p:cNvPr id="46" name="Shape 43"/>
          <p:cNvSpPr/>
          <p:nvPr/>
        </p:nvSpPr>
        <p:spPr>
          <a:xfrm>
            <a:off x="6446520" y="4864608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02552" y="4791456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答辩情况：</a:t>
            </a:r>
            <a:endParaRPr lang="en-US" sz="1750" dirty="0"/>
          </a:p>
        </p:txBody>
      </p:sp>
      <p:sp>
        <p:nvSpPr>
          <p:cNvPr id="48" name="Text 45"/>
          <p:cNvSpPr/>
          <p:nvPr/>
        </p:nvSpPr>
        <p:spPr>
          <a:xfrm>
            <a:off x="7772400" y="4800600"/>
            <a:ext cx="36576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时间、地点、专家与结果待学院答辩安排及答辩后填写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4069080" y="5742432"/>
            <a:ext cx="40690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第一部分：学位申请与成果信息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0" y="0"/>
            <a:ext cx="12215495" cy="6870700"/>
            <a:chOff x="0" y="0"/>
            <a:chExt cx="19237" cy="10820"/>
          </a:xfrm>
        </p:grpSpPr>
        <p:sp>
          <p:nvSpPr>
            <p:cNvPr id="71" name="任意多边形: 形状 43"/>
            <p:cNvSpPr/>
            <p:nvPr/>
          </p:nvSpPr>
          <p:spPr>
            <a:xfrm>
              <a:off x="0" y="0"/>
              <a:ext cx="19237" cy="10800"/>
            </a:xfrm>
            <a:custGeom>
              <a:avLst/>
              <a:gdLst>
                <a:gd name="connsiteX0" fmla="*/ 0 w 9700641"/>
                <a:gd name="connsiteY0" fmla="*/ 0 h 6858000"/>
                <a:gd name="connsiteX1" fmla="*/ 9700641 w 9700641"/>
                <a:gd name="connsiteY1" fmla="*/ 0 h 6858000"/>
                <a:gd name="connsiteX2" fmla="*/ 9700641 w 9700641"/>
                <a:gd name="connsiteY2" fmla="*/ 6858000 h 6858000"/>
                <a:gd name="connsiteX3" fmla="*/ 0 w 970064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00641" h="6858000">
                  <a:moveTo>
                    <a:pt x="0" y="0"/>
                  </a:moveTo>
                  <a:lnTo>
                    <a:pt x="9700641" y="0"/>
                  </a:lnTo>
                  <a:lnTo>
                    <a:pt x="970064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2F2F2"/>
            </a:solidFill>
            <a:ln w="2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矩形: 圆角 78"/>
            <p:cNvSpPr/>
            <p:nvPr/>
          </p:nvSpPr>
          <p:spPr>
            <a:xfrm>
              <a:off x="535" y="497"/>
              <a:ext cx="18079" cy="9907"/>
            </a:xfrm>
            <a:prstGeom prst="roundRect">
              <a:avLst>
                <a:gd name="adj" fmla="val 507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44"/>
            <p:cNvSpPr/>
            <p:nvPr/>
          </p:nvSpPr>
          <p:spPr>
            <a:xfrm>
              <a:off x="11317" y="0"/>
              <a:ext cx="7920" cy="6863"/>
            </a:xfrm>
            <a:custGeom>
              <a:avLst/>
              <a:gdLst>
                <a:gd name="connsiteX0" fmla="*/ 5028972 w 5028971"/>
                <a:gd name="connsiteY0" fmla="*/ 0 h 4358030"/>
                <a:gd name="connsiteX1" fmla="*/ 5028972 w 5028971"/>
                <a:gd name="connsiteY1" fmla="*/ 4291279 h 4358030"/>
                <a:gd name="connsiteX2" fmla="*/ 4597604 w 5028971"/>
                <a:gd name="connsiteY2" fmla="*/ 4358031 h 4358030"/>
                <a:gd name="connsiteX3" fmla="*/ 4597604 w 5028971"/>
                <a:gd name="connsiteY3" fmla="*/ 665455 h 4358030"/>
                <a:gd name="connsiteX4" fmla="*/ 4259047 w 5028971"/>
                <a:gd name="connsiteY4" fmla="*/ 326898 h 4358030"/>
                <a:gd name="connsiteX5" fmla="*/ 1600 w 5028971"/>
                <a:gd name="connsiteY5" fmla="*/ 326898 h 4358030"/>
                <a:gd name="connsiteX6" fmla="*/ 0 w 5028971"/>
                <a:gd name="connsiteY6" fmla="*/ 207797 h 4358030"/>
                <a:gd name="connsiteX7" fmla="*/ 5029 w 5028971"/>
                <a:gd name="connsiteY7" fmla="*/ 229 h 4358030"/>
                <a:gd name="connsiteX8" fmla="*/ 5028972 w 5028971"/>
                <a:gd name="connsiteY8" fmla="*/ 229 h 435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8971" h="4358030">
                  <a:moveTo>
                    <a:pt x="5028972" y="0"/>
                  </a:moveTo>
                  <a:lnTo>
                    <a:pt x="5028972" y="4291279"/>
                  </a:lnTo>
                  <a:cubicBezTo>
                    <a:pt x="4887697" y="4320769"/>
                    <a:pt x="4743679" y="4343172"/>
                    <a:pt x="4597604" y="4358031"/>
                  </a:cubicBezTo>
                  <a:lnTo>
                    <a:pt x="4597604" y="665455"/>
                  </a:lnTo>
                  <a:cubicBezTo>
                    <a:pt x="4597604" y="478460"/>
                    <a:pt x="4446042" y="326898"/>
                    <a:pt x="4259047" y="326898"/>
                  </a:cubicBezTo>
                  <a:lnTo>
                    <a:pt x="1600" y="326898"/>
                  </a:lnTo>
                  <a:cubicBezTo>
                    <a:pt x="457" y="287350"/>
                    <a:pt x="0" y="247574"/>
                    <a:pt x="0" y="207797"/>
                  </a:cubicBezTo>
                  <a:cubicBezTo>
                    <a:pt x="0" y="138074"/>
                    <a:pt x="1829" y="69037"/>
                    <a:pt x="5029" y="229"/>
                  </a:cubicBezTo>
                  <a:lnTo>
                    <a:pt x="5028972" y="229"/>
                  </a:lnTo>
                  <a:close/>
                </a:path>
              </a:pathLst>
            </a:custGeom>
            <a:solidFill>
              <a:srgbClr val="1C4E88"/>
            </a:solidFill>
            <a:ln w="2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45"/>
            <p:cNvSpPr/>
            <p:nvPr/>
          </p:nvSpPr>
          <p:spPr>
            <a:xfrm>
              <a:off x="0" y="7448"/>
              <a:ext cx="5133" cy="3372"/>
            </a:xfrm>
            <a:custGeom>
              <a:avLst/>
              <a:gdLst>
                <a:gd name="connsiteX0" fmla="*/ 3259150 w 3259150"/>
                <a:gd name="connsiteY0" fmla="*/ 2141296 h 2141296"/>
                <a:gd name="connsiteX1" fmla="*/ 0 w 3259150"/>
                <a:gd name="connsiteY1" fmla="*/ 2141296 h 2141296"/>
                <a:gd name="connsiteX2" fmla="*/ 0 w 3259150"/>
                <a:gd name="connsiteY2" fmla="*/ 17145 h 2141296"/>
                <a:gd name="connsiteX3" fmla="*/ 326669 w 3259150"/>
                <a:gd name="connsiteY3" fmla="*/ 0 h 2141296"/>
                <a:gd name="connsiteX4" fmla="*/ 431597 w 3259150"/>
                <a:gd name="connsiteY4" fmla="*/ 1829 h 2141296"/>
                <a:gd name="connsiteX5" fmla="*/ 431597 w 3259150"/>
                <a:gd name="connsiteY5" fmla="*/ 1476070 h 2141296"/>
                <a:gd name="connsiteX6" fmla="*/ 770153 w 3259150"/>
                <a:gd name="connsiteY6" fmla="*/ 1814627 h 2141296"/>
                <a:gd name="connsiteX7" fmla="*/ 3134106 w 3259150"/>
                <a:gd name="connsiteY7" fmla="*/ 1814627 h 2141296"/>
                <a:gd name="connsiteX8" fmla="*/ 3259150 w 3259150"/>
                <a:gd name="connsiteY8" fmla="*/ 2141296 h 214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9150" h="2141296">
                  <a:moveTo>
                    <a:pt x="3259150" y="2141296"/>
                  </a:moveTo>
                  <a:lnTo>
                    <a:pt x="0" y="2141296"/>
                  </a:lnTo>
                  <a:lnTo>
                    <a:pt x="0" y="17145"/>
                  </a:lnTo>
                  <a:cubicBezTo>
                    <a:pt x="107442" y="5715"/>
                    <a:pt x="216256" y="0"/>
                    <a:pt x="326669" y="0"/>
                  </a:cubicBezTo>
                  <a:cubicBezTo>
                    <a:pt x="361874" y="0"/>
                    <a:pt x="396621" y="686"/>
                    <a:pt x="431597" y="1829"/>
                  </a:cubicBezTo>
                  <a:lnTo>
                    <a:pt x="431597" y="1476070"/>
                  </a:lnTo>
                  <a:cubicBezTo>
                    <a:pt x="431597" y="1663065"/>
                    <a:pt x="583159" y="1814627"/>
                    <a:pt x="770153" y="1814627"/>
                  </a:cubicBezTo>
                  <a:lnTo>
                    <a:pt x="3134106" y="1814627"/>
                  </a:lnTo>
                  <a:cubicBezTo>
                    <a:pt x="3181655" y="1920468"/>
                    <a:pt x="3223489" y="2029511"/>
                    <a:pt x="3259150" y="2141296"/>
                  </a:cubicBezTo>
                  <a:close/>
                </a:path>
              </a:pathLst>
            </a:custGeom>
            <a:solidFill>
              <a:srgbClr val="1C4E88"/>
            </a:solidFill>
            <a:ln w="2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4" name="任意多边形: 形状 46"/>
            <p:cNvSpPr/>
            <p:nvPr/>
          </p:nvSpPr>
          <p:spPr>
            <a:xfrm>
              <a:off x="11317" y="491"/>
              <a:ext cx="7238" cy="6382"/>
            </a:xfrm>
            <a:custGeom>
              <a:avLst/>
              <a:gdLst>
                <a:gd name="connsiteX0" fmla="*/ 4596003 w 4596003"/>
                <a:gd name="connsiteY0" fmla="*/ 338557 h 4052621"/>
                <a:gd name="connsiteX1" fmla="*/ 4596003 w 4596003"/>
                <a:gd name="connsiteY1" fmla="*/ 4031133 h 4052621"/>
                <a:gd name="connsiteX2" fmla="*/ 4170121 w 4596003"/>
                <a:gd name="connsiteY2" fmla="*/ 4052621 h 4052621"/>
                <a:gd name="connsiteX3" fmla="*/ 0 w 4596003"/>
                <a:gd name="connsiteY3" fmla="*/ 0 h 4052621"/>
                <a:gd name="connsiteX4" fmla="*/ 4257446 w 4596003"/>
                <a:gd name="connsiteY4" fmla="*/ 0 h 4052621"/>
                <a:gd name="connsiteX5" fmla="*/ 4596003 w 4596003"/>
                <a:gd name="connsiteY5" fmla="*/ 338557 h 405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96003" h="4052621">
                  <a:moveTo>
                    <a:pt x="4596003" y="338557"/>
                  </a:moveTo>
                  <a:lnTo>
                    <a:pt x="4596003" y="4031133"/>
                  </a:lnTo>
                  <a:cubicBezTo>
                    <a:pt x="4455871" y="4045306"/>
                    <a:pt x="4313911" y="4052621"/>
                    <a:pt x="4170121" y="4052621"/>
                  </a:cubicBezTo>
                  <a:cubicBezTo>
                    <a:pt x="1905838" y="4052621"/>
                    <a:pt x="63093" y="2248967"/>
                    <a:pt x="0" y="0"/>
                  </a:cubicBezTo>
                  <a:lnTo>
                    <a:pt x="4257446" y="0"/>
                  </a:lnTo>
                  <a:cubicBezTo>
                    <a:pt x="4444441" y="-228"/>
                    <a:pt x="4596003" y="151333"/>
                    <a:pt x="4596003" y="338557"/>
                  </a:cubicBezTo>
                  <a:close/>
                </a:path>
              </a:pathLst>
            </a:custGeom>
            <a:solidFill>
              <a:srgbClr val="F2F2F2"/>
            </a:solidFill>
            <a:ln w="2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47"/>
            <p:cNvSpPr/>
            <p:nvPr/>
          </p:nvSpPr>
          <p:spPr>
            <a:xfrm>
              <a:off x="535" y="7448"/>
              <a:ext cx="4409" cy="2855"/>
            </a:xfrm>
            <a:custGeom>
              <a:avLst/>
              <a:gdLst>
                <a:gd name="connsiteX0" fmla="*/ 2702281 w 2702280"/>
                <a:gd name="connsiteY0" fmla="*/ 1812798 h 1812798"/>
                <a:gd name="connsiteX1" fmla="*/ 338557 w 2702280"/>
                <a:gd name="connsiteY1" fmla="*/ 1812798 h 1812798"/>
                <a:gd name="connsiteX2" fmla="*/ 0 w 2702280"/>
                <a:gd name="connsiteY2" fmla="*/ 1474241 h 1812798"/>
                <a:gd name="connsiteX3" fmla="*/ 0 w 2702280"/>
                <a:gd name="connsiteY3" fmla="*/ 0 h 1812798"/>
                <a:gd name="connsiteX4" fmla="*/ 2702281 w 2702280"/>
                <a:gd name="connsiteY4" fmla="*/ 1812798 h 181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2280" h="1812798">
                  <a:moveTo>
                    <a:pt x="2702281" y="1812798"/>
                  </a:moveTo>
                  <a:lnTo>
                    <a:pt x="338557" y="1812798"/>
                  </a:lnTo>
                  <a:cubicBezTo>
                    <a:pt x="151562" y="1812798"/>
                    <a:pt x="0" y="1661236"/>
                    <a:pt x="0" y="1474241"/>
                  </a:cubicBezTo>
                  <a:lnTo>
                    <a:pt x="0" y="0"/>
                  </a:lnTo>
                  <a:cubicBezTo>
                    <a:pt x="1204493" y="40233"/>
                    <a:pt x="2233879" y="772896"/>
                    <a:pt x="2702281" y="1812798"/>
                  </a:cubicBezTo>
                  <a:close/>
                </a:path>
              </a:pathLst>
            </a:custGeom>
            <a:solidFill>
              <a:srgbClr val="F2F2F2"/>
            </a:solidFill>
            <a:ln w="2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6" name="图片 75" descr="logo_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002" y="7"/>
              <a:ext cx="3121" cy="490"/>
            </a:xfrm>
            <a:prstGeom prst="rect">
              <a:avLst/>
            </a:prstGeom>
          </p:spPr>
        </p:pic>
      </p:grp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5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培养信息与学分完成情况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来自研究生系统截图信息，保留答辩前置审查所需字段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培养信息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499616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年级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673352" y="1481328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2023级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15968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499616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学生类别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276088" y="1481328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全日制专业学位硕士生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918704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499616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院系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8878824" y="1481328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13232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029968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673352" y="2011680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085410 人工智能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315968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2029968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276088" y="2011680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230551_刘威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7918704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2029968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8878824" y="2011680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不分方向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713232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2560320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学制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673352" y="2542032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3年制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315968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2560320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入学方式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5276088" y="2542032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全国统考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7918704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0144" y="2560320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学习方式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8878824" y="2542032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全日制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13232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090672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入学年月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1673352" y="3072384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2023-09-01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4315968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7408" y="3090672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预计毕业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5276088" y="3072384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2026-06-30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7918704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3090672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学籍状态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8878824" y="3072384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在读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713232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3621024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学位类型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1673352" y="3602736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专业学位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4315968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3621024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是否专业学位</a:t>
            </a:r>
            <a:endParaRPr lang="en-US" sz="870" dirty="0"/>
          </a:p>
        </p:txBody>
      </p:sp>
      <p:sp>
        <p:nvSpPr>
          <p:cNvPr id="57" name="Text 55"/>
          <p:cNvSpPr/>
          <p:nvPr/>
        </p:nvSpPr>
        <p:spPr>
          <a:xfrm>
            <a:off x="5276088" y="3602736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7918704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10144" y="3621024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培养类型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8878824" y="3602736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822960" y="4315968"/>
            <a:ext cx="18288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方案学分要求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822960" y="4617720"/>
            <a:ext cx="101498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3500" dirty="0"/>
          </a:p>
        </p:txBody>
      </p:sp>
      <p:sp>
        <p:nvSpPr>
          <p:cNvPr id="64" name="Text 62"/>
          <p:cNvSpPr/>
          <p:nvPr/>
        </p:nvSpPr>
        <p:spPr>
          <a:xfrm>
            <a:off x="98755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总计已选学分（要求 32）</a:t>
            </a:r>
            <a:endParaRPr lang="en-US" sz="1180" dirty="0"/>
          </a:p>
        </p:txBody>
      </p:sp>
      <p:sp>
        <p:nvSpPr>
          <p:cNvPr id="65" name="Text 63"/>
          <p:cNvSpPr/>
          <p:nvPr/>
        </p:nvSpPr>
        <p:spPr>
          <a:xfrm>
            <a:off x="356616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3500" dirty="0"/>
          </a:p>
        </p:txBody>
      </p:sp>
      <p:sp>
        <p:nvSpPr>
          <p:cNvPr id="66" name="Text 64"/>
          <p:cNvSpPr/>
          <p:nvPr/>
        </p:nvSpPr>
        <p:spPr>
          <a:xfrm>
            <a:off x="359359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总计必修课学分（要求 18）</a:t>
            </a:r>
            <a:endParaRPr lang="en-US" sz="1180" dirty="0"/>
          </a:p>
        </p:txBody>
      </p:sp>
      <p:sp>
        <p:nvSpPr>
          <p:cNvPr id="67" name="Text 65"/>
          <p:cNvSpPr/>
          <p:nvPr/>
        </p:nvSpPr>
        <p:spPr>
          <a:xfrm>
            <a:off x="617220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3500" dirty="0"/>
          </a:p>
        </p:txBody>
      </p:sp>
      <p:sp>
        <p:nvSpPr>
          <p:cNvPr id="68" name="Text 66"/>
          <p:cNvSpPr/>
          <p:nvPr/>
        </p:nvSpPr>
        <p:spPr>
          <a:xfrm>
            <a:off x="619963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专业方向课已选学分</a:t>
            </a:r>
            <a:endParaRPr lang="en-US" sz="118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/>
        </p:nvGraphicFramePr>
        <p:xfrm>
          <a:off x="822960" y="5650992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课程类别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专业基础课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公共必修课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专业选修课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专业方向课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当前选课学分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5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学位论文评阅与答辩状态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评阅类型：硕士盲审两份；系统评阅结果：通过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评阅信息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86600" y="1261872"/>
            <a:ext cx="1188720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8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144768" y="1362456"/>
            <a:ext cx="10972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6352" y="1362456"/>
            <a:ext cx="1691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硕士盲审两份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1362456"/>
            <a:ext cx="10972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749808" y="1874520"/>
          <a:ext cx="9144000" cy="1298448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1417320"/>
                <a:gridCol w="914400"/>
                <a:gridCol w="256032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专家姓名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评阅ID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送审类型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答辩结论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盲审专家1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23214878003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同意答辩（A）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盲审专家2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23214878006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修改后答辩（B）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04672" y="3611880"/>
            <a:ext cx="4983480" cy="1417320"/>
          </a:xfrm>
          <a:prstGeom prst="rect">
            <a:avLst/>
          </a:prstGeom>
          <a:solidFill>
            <a:srgbClr val="F7F9FC"/>
          </a:solidFill>
          <a:ln w="10160">
            <a:solidFill>
              <a:srgbClr val="D7DE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4128" y="3822192"/>
            <a:ext cx="12801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专家1意见摘要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24128" y="4160520"/>
            <a:ext cx="4407408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选题具有较强理论意义和现实应用价值；方法设计充分，结果验证较完整，同意参加答辩，并推荐为校级优秀学位论文。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309360" y="3611880"/>
            <a:ext cx="4983480" cy="1417320"/>
          </a:xfrm>
          <a:prstGeom prst="rect">
            <a:avLst/>
          </a:prstGeom>
          <a:solidFill>
            <a:srgbClr val="F7F9FC"/>
          </a:solidFill>
          <a:ln w="10160">
            <a:solidFill>
              <a:srgbClr val="D7DE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28816" y="3822192"/>
            <a:ext cx="12801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专家2意见摘要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28816" y="4160520"/>
            <a:ext cx="4407408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论文达到硕士学位论文要求，同意修改后参加答辩；建议进一步统一格式、术语和章节衔接表达。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868680" y="5559552"/>
            <a:ext cx="10972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答辩安排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847088" y="5559552"/>
            <a:ext cx="64008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/ 地点 / 专家 / 结果：待学院答辩安排及答辩后填写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围绕论文主线形成两项代表性学术论文成果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261872"/>
            <a:ext cx="128016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/ 专利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1280160"/>
            <a:ext cx="4754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当前材料中未检索到专利信息；已发表/接收论文 2 篇。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41248" y="1847088"/>
            <a:ext cx="5010912" cy="2788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847088"/>
            <a:ext cx="5010912" cy="40233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1947672"/>
            <a:ext cx="15087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WISE 2024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95928" y="1947672"/>
            <a:ext cx="15544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CCF B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097280" y="2523744"/>
            <a:ext cx="4526280" cy="6766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Recommendation Based on Time Slot Preferences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 Bidirectional Transformation Modeling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443484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Zhao Liu, Wei Liu, Huaijie Zhu, Jianxing Yu, Jian Yin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7280" y="3858768"/>
            <a:ext cx="4361688" cy="0"/>
          </a:xfrm>
          <a:prstGeom prst="line">
            <a:avLst/>
          </a:prstGeom>
          <a:noFill/>
          <a:ln w="10160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041648"/>
            <a:ext cx="4443984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对应论文小模型路线：TSPM、时间增强序列动态图与双向转移建模。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373368" y="1847088"/>
            <a:ext cx="5010912" cy="2788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1847088"/>
            <a:ext cx="5010912" cy="40233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1947672"/>
            <a:ext cx="15087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ICDE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28048" y="1947672"/>
            <a:ext cx="15544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CCF A · Accepted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629400" y="2523744"/>
            <a:ext cx="4526280" cy="6766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Geography-Aware Large Language Models for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Recommendation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29400" y="3337560"/>
            <a:ext cx="443484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Zhao Liu, Muzu Xie, Wei Liu, Huaijie Zhu, Jianxing Yu, Jian Yin, Wang-Chien Lee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29400" y="3858768"/>
            <a:ext cx="4361688" cy="0"/>
          </a:xfrm>
          <a:prstGeom prst="line">
            <a:avLst/>
          </a:prstGeom>
          <a:noFill/>
          <a:ln w="10160">
            <a:solidFill>
              <a:srgbClr val="D9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041648"/>
            <a:ext cx="4443984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对应论文大模型路线：GA-LLM、GCIM 地理注入与 PAM 结构对齐。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68680" y="5230368"/>
            <a:ext cx="164592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成果与毕业论文关系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31720" y="5193792"/>
            <a:ext cx="79552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两项成果共同支撑“结构先验 + 语义推理 + 协同训练”的论文主框架，覆盖方法设计、实验验证与应用价值。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703320" y="3401568"/>
            <a:ext cx="4773168" cy="45720"/>
          </a:xfrm>
          <a:prstGeom prst="rect">
            <a:avLst/>
          </a:prstGeom>
          <a:solidFill>
            <a:srgbClr val="1E2732">
              <a:alpha val="96000"/>
            </a:srgbClr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17320"/>
            <a:ext cx="470916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中山大学人工智能学院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60520" y="1783080"/>
            <a:ext cx="3886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硕士学位论文答辩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2359152"/>
            <a:ext cx="8275320" cy="8961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面向出行位置点预测的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大小模型协同学习研究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2286000" y="3721608"/>
            <a:ext cx="77266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Collaborative Learning of Large and Small Models for Next POI Prediction in Mobility Scenarios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749040" y="4224528"/>
            <a:ext cx="4709160" cy="45720"/>
          </a:xfrm>
          <a:prstGeom prst="rect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4064" y="4709160"/>
            <a:ext cx="2029968" cy="47548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4846320"/>
            <a:ext cx="13258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5650992"/>
            <a:ext cx="60807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答辩人：刘钊      专业：人工智能      导师：刘威（副教授）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010912" y="731520"/>
            <a:ext cx="219456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答辩结构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321808" y="1078992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8288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615184" y="18653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33472" y="23591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615184" y="39227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633472" y="44165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187184" y="18653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205472" y="23591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8862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187184" y="39227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05472" y="44165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从真实出行任务出发，明确 Next POI 的约束与能力缺口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位置服务从线上推荐进入线下出行决策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需要预测下一步可达且合理的目标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序列、图模型与 LLM 各有能力边界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研究背景：位置服务让推荐走向真实出行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预测服务智能出行、本地生活与文旅推荐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1600200"/>
            <a:ext cx="5120640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推荐目标从“喜欢什么”变成“下一步去哪里”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68680" y="2542032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87168"/>
            <a:ext cx="52120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线下场景同时受到时间、空间、活动语义和路径连续性约束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68680" y="3072384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017520"/>
            <a:ext cx="52120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 POI 预测需要输出 Top-K 候选，并把真实目标排在前列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68680" y="3602736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547872"/>
            <a:ext cx="52120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真实系统还要求跨城泛化、稳定排序和可部署的推理成本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629400" y="1353312"/>
            <a:ext cx="27432" cy="4297680"/>
          </a:xfrm>
          <a:prstGeom prst="rect">
            <a:avLst/>
          </a:prstGeom>
          <a:solidFill>
            <a:srgbClr val="D9DEE6"/>
          </a:solidFill>
          <a:ln w="12700">
            <a:solidFill>
              <a:srgbClr val="D9DE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572768"/>
            <a:ext cx="20574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本地生活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13448" y="1993392"/>
            <a:ext cx="2743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餐饮、购物、服务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47688" y="1746504"/>
            <a:ext cx="256032" cy="0"/>
          </a:xfrm>
          <a:prstGeom prst="line">
            <a:avLst/>
          </a:prstGeom>
          <a:noFill/>
          <a:ln w="27940">
            <a:solidFill>
              <a:srgbClr val="1C4E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834640"/>
            <a:ext cx="20574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智能出行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13448" y="3255264"/>
            <a:ext cx="2743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通勤、导航、行程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47688" y="3008376"/>
            <a:ext cx="256032" cy="0"/>
          </a:xfrm>
          <a:prstGeom prst="line">
            <a:avLst/>
          </a:prstGeom>
          <a:noFill/>
          <a:ln w="27940">
            <a:solidFill>
              <a:srgbClr val="1C4E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096512"/>
            <a:ext cx="20574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文旅推荐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13448" y="4517136"/>
            <a:ext cx="2743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景点、活动、路线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47688" y="4270248"/>
            <a:ext cx="256032" cy="0"/>
          </a:xfrm>
          <a:prstGeom prst="line">
            <a:avLst/>
          </a:prstGeom>
          <a:noFill/>
          <a:ln w="27940">
            <a:solidFill>
              <a:srgbClr val="FF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50749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8851392" y="56052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排序质量是核心评估口径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任务定义：由历史轨迹预测下一 POI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输入时间有序签到序列，输出下一时刻最可能访问的兴趣点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任务定义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1536192"/>
            <a:ext cx="12801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签到记录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1865376"/>
            <a:ext cx="39319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3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xᵢ = (u, ℓᵢ, tᵢ, gᵢ, cᵢ)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2960" y="2340864"/>
            <a:ext cx="36576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用户、POI、时间、经纬度、类别语义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749040"/>
            <a:ext cx="9326880" cy="0"/>
          </a:xfrm>
          <a:prstGeom prst="line">
            <a:avLst/>
          </a:prstGeom>
          <a:noFill/>
          <a:ln w="15240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101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1848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8444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293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040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06840" y="3529584"/>
            <a:ext cx="438912" cy="43891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224528"/>
            <a:ext cx="384048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历史轨迹 𝒯ᵤ = {x₁, …, xₙ}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24528" y="4224528"/>
            <a:ext cx="621792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目标：f : 𝒯ᵤ → ℓ̂ₙ₊₁，使真实 POI 在候选排序中尽可能靠前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14400" y="51297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5074920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Acc@K 衡量 Top-K 是否命中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" y="5513832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5458968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MRR 衡量真实目标排名是否靠前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589788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843016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NDCG@K 衡量前 K 候选的排序质量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为什么困难：出行预测是强约束推荐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语义合理并不等于地理可达，局部高频也不等于下一步真实目标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57276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9A441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00200" y="159105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时间异质性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18488" y="210312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 POI 在工作日、夜间、周末的转移规律不同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00200" y="2002536"/>
            <a:ext cx="3794760" cy="0"/>
          </a:xfrm>
          <a:prstGeom prst="line">
            <a:avLst/>
          </a:prstGeom>
          <a:noFill/>
          <a:ln w="1397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57276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995160" y="159105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方向性缺失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13448" y="210312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只问“当前点去哪里”，容易忽略“目标点从哪里来”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2002536"/>
            <a:ext cx="3794760" cy="0"/>
          </a:xfrm>
          <a:prstGeom prst="line">
            <a:avLst/>
          </a:prstGeom>
          <a:noFill/>
          <a:ln w="1397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7588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5B8FC4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600200" y="369417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空间连续性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18488" y="420624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把坐标当文本 token，地理邻近可能变成语义远离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600200" y="4105656"/>
            <a:ext cx="3794760" cy="0"/>
          </a:xfrm>
          <a:prstGeom prst="line">
            <a:avLst/>
          </a:prstGeom>
          <a:noFill/>
          <a:ln w="13970">
            <a:solidFill>
              <a:srgbClr val="5B8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7588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6995160" y="369417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转移先验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13448" y="420624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高阶 POI 图关系难以仅靠文本上下文注入 LLM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95160" y="4105656"/>
            <a:ext cx="3794760" cy="0"/>
          </a:xfrm>
          <a:prstGeom prst="line">
            <a:avLst/>
          </a:prstGeom>
          <a:noFill/>
          <a:ln w="13970">
            <a:solidFill>
              <a:srgbClr val="1C4E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559552"/>
            <a:ext cx="8595360" cy="42062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单一路线难以同时兼顾精度、泛化、可解释性与部署成本</a:t>
            </a: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现有方法边界：三类路线各有短板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本文从能力边界出发设计协同框架，而不是简单叠加模型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问题分析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11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749808" y="1554480"/>
          <a:ext cx="10113264" cy="2578608"/>
        </p:xfrm>
        <a:graphic>
          <a:graphicData uri="http://schemas.openxmlformats.org/drawingml/2006/table">
            <a:tbl>
              <a:tblPr/>
              <a:tblGrid>
                <a:gridCol w="1170432"/>
                <a:gridCol w="2331720"/>
                <a:gridCol w="2788920"/>
                <a:gridCol w="3822192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主要优势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主要短板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对本文启示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序列模型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局部时序表达强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高阶迁移与跨场景泛化不足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引入时间分段与结构化转移先验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图模型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高阶关系建模强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动态图开销高，语义空间难融合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采用轻量动态图与可映射表示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模型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语义理解与泛化强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地理连续性弱，坐标文本不稳定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设计地理编码与 POI 先验注入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04672" y="4892040"/>
            <a:ext cx="658368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17320" y="4864608"/>
            <a:ext cx="89611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场景需要“结构先验 + 语义推理”的协同机制，并在训练/推理成本上保持可控。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研究问题：从五个 RQ 构造证据闭环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问题、方法、实验按同一逻辑闭环组织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17320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1417320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总体有效性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1568" y="1417320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协同框架是否稳定优于序列、图与 LLM 基线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1810512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203704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2203704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小模型机制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01568" y="2203704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时间增强与双向转移是否带来独立贡献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" y="2596896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990088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2990088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大模型机制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01568" y="2990088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与 PAM 是否改善空间一致性与转移感知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" y="3383280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76472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3776472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协同机理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01568" y="3776472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结构约束是否校正语义偏差与远跳错误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" y="4169664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562856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91640" y="4562856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效率部署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01568" y="4562856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与模块化注入是否控制训练/推理开销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" y="4956048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5605272"/>
            <a:ext cx="1737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答辩时的证据顺序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542032" y="5577840"/>
            <a:ext cx="53035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主结果 → 消融 → 空间诊断 → 泛化/效率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小模型提供结构先验，大模型完成地理感知语义推理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建模时间异质与双向转移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注入连续地理约束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对齐 POI 图结构与 LLM 语义空间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总体思路：小模型学结构，大模型做语义推理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双路线并行、训练协同、推理独立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总体方法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81328"/>
            <a:ext cx="292608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小模型分支 TSPM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1920240"/>
            <a:ext cx="4023360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学习时间敏感的时空转移结构：时间分槽、转出/转入方向、动态图权重。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1481328"/>
            <a:ext cx="310896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5B8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大模型分支 GA-LLM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4114800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GCIM 注入地理连续性，通过 PAM 注入 POI 转移先验，生成 Top-K。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895344"/>
            <a:ext cx="3794760" cy="0"/>
          </a:xfrm>
          <a:prstGeom prst="line">
            <a:avLst/>
          </a:prstGeom>
          <a:noFill/>
          <a:ln w="2794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95744" y="3895344"/>
            <a:ext cx="3282696" cy="0"/>
          </a:xfrm>
          <a:prstGeom prst="line">
            <a:avLst/>
          </a:prstGeom>
          <a:noFill/>
          <a:ln w="27940">
            <a:solidFill>
              <a:srgbClr val="5B8F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3090672"/>
            <a:ext cx="1691640" cy="169164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3547872"/>
            <a:ext cx="100584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297680" y="5102352"/>
            <a:ext cx="347472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训练期吸收结构知识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182112" y="5504688"/>
            <a:ext cx="57607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推理期仅 GA-LLM 单路输出，不在线调用 TSPM 打分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协同框架：结构信息在输入侧被对齐注入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图示重点展示 GA-LLM 主推理链路以及 GCIM/PAM 的注入流程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总体方法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15</a:t>
            </a:r>
            <a:endParaRPr lang="en-US" sz="850" dirty="0"/>
          </a:p>
        </p:txBody>
      </p:sp>
      <p:pic>
        <p:nvPicPr>
          <p:cNvPr id="16" name="Image 0" descr="大小模型协同框架示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98448"/>
            <a:ext cx="10561320" cy="4023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5486400"/>
            <a:ext cx="914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关键口径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91640" y="5440680"/>
            <a:ext cx="896112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提供结构嵌入，PAM 将其映射到 LLM 语义空间；最终 Top-K 由 GA-LLM 单路生成。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小模型分支：TSPM 显式建模时间异质性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按时段划分转移子图，同时学习转出与转入关系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16</a:t>
            </a:r>
            <a:endParaRPr lang="en-US" sz="850" dirty="0"/>
          </a:p>
        </p:txBody>
      </p:sp>
      <p:pic>
        <p:nvPicPr>
          <p:cNvPr id="16" name="Image 0" descr="传统序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526280" cy="2331720"/>
          </a:xfrm>
          <a:prstGeom prst="rect">
            <a:avLst/>
          </a:prstGeom>
        </p:spPr>
      </p:pic>
      <p:pic>
        <p:nvPicPr>
          <p:cNvPr id="17" name="Image 1" descr="时间增强序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4526280" cy="23317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12848" y="3931920"/>
            <a:ext cx="14630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传统连续序列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16368" y="3931920"/>
            <a:ext cx="14630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时间增强序列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60120" y="476402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43000" y="4709160"/>
            <a:ext cx="96926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TSDG：按时间槽构建动态图，显式刻画同一 POI 在不同时段的差异</a:t>
            </a:r>
            <a:endParaRPr lang="en-US" sz="1420" dirty="0"/>
          </a:p>
        </p:txBody>
      </p:sp>
      <p:sp>
        <p:nvSpPr>
          <p:cNvPr id="22" name="Shape 18"/>
          <p:cNvSpPr/>
          <p:nvPr/>
        </p:nvSpPr>
        <p:spPr>
          <a:xfrm>
            <a:off x="960120" y="517550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43000" y="5120640"/>
            <a:ext cx="96926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BTM：同时建模“当前点去哪里”和“目标点从哪里来”</a:t>
            </a:r>
            <a:endParaRPr lang="en-US" sz="1420" dirty="0"/>
          </a:p>
        </p:txBody>
      </p:sp>
      <p:sp>
        <p:nvSpPr>
          <p:cNvPr id="24" name="Shape 20"/>
          <p:cNvSpPr/>
          <p:nvPr/>
        </p:nvSpPr>
        <p:spPr>
          <a:xfrm>
            <a:off x="960120" y="55869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43000" y="5532120"/>
            <a:ext cx="96926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动态图边权：综合序列距离与双向转移距离，提升排序稳定性</a:t>
            </a:r>
            <a:endParaRPr lang="en-US" sz="14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双向转移与 TiRNN：把历史贡献做成可调权重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关系向量调节不同历史点对下一 POI 的贡献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17</a:t>
            </a:r>
            <a:endParaRPr lang="en-US" sz="850" dirty="0"/>
          </a:p>
        </p:txBody>
      </p:sp>
      <p:pic>
        <p:nvPicPr>
          <p:cNvPr id="16" name="Image 0" descr="TiRNN预测头结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08176"/>
            <a:ext cx="5120640" cy="3154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4754880"/>
            <a:ext cx="141732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TiRNN 预测头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19088" y="1627632"/>
            <a:ext cx="42062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rₖ = RelEnc(ℓₜ₋ₖ, ℓₜ, Δtₖ, Δgₖ)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19088" y="2331720"/>
            <a:ext cx="37490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ℒₜₛₚₘ = αℒ_time + βℒ_seq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473952" y="33009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3246120"/>
            <a:ext cx="4389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关系编码引入时间间隔与地理距离</a:t>
            </a:r>
            <a:endParaRPr lang="en-US" sz="1430" dirty="0"/>
          </a:p>
        </p:txBody>
      </p:sp>
      <p:sp>
        <p:nvSpPr>
          <p:cNvPr id="22" name="Shape 19"/>
          <p:cNvSpPr/>
          <p:nvPr/>
        </p:nvSpPr>
        <p:spPr>
          <a:xfrm>
            <a:off x="6473952" y="37581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6832" y="3703320"/>
            <a:ext cx="4389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注意力融合多步历史，平衡短期惯性与中期计划</a:t>
            </a:r>
            <a:endParaRPr lang="en-US" sz="1430" dirty="0"/>
          </a:p>
        </p:txBody>
      </p:sp>
      <p:sp>
        <p:nvSpPr>
          <p:cNvPr id="24" name="Shape 21"/>
          <p:cNvSpPr/>
          <p:nvPr/>
        </p:nvSpPr>
        <p:spPr>
          <a:xfrm>
            <a:off x="6473952" y="42153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56832" y="4160520"/>
            <a:ext cx="4389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离线训练后导出 POI 结构嵌入，供 PAM 读取</a:t>
            </a:r>
            <a:endParaRPr lang="en-US" sz="143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大模型问题：坐标文本化破坏空间连续性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地理上相邻的位置，可能在离散 token 空间中被切成差异很大的符号序列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18</a:t>
            </a:r>
            <a:endParaRPr lang="en-US" sz="850" dirty="0"/>
          </a:p>
        </p:txBody>
      </p:sp>
      <p:pic>
        <p:nvPicPr>
          <p:cNvPr id="16" name="Image 0" descr="空间连续性挑战示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6400800" cy="411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99248" y="169164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远跳</a:t>
            </a:r>
            <a:endParaRPr lang="en-US" sz="4100" dirty="0"/>
          </a:p>
        </p:txBody>
      </p:sp>
      <p:sp>
        <p:nvSpPr>
          <p:cNvPr id="18" name="Text 15"/>
          <p:cNvSpPr/>
          <p:nvPr/>
        </p:nvSpPr>
        <p:spPr>
          <a:xfrm>
            <a:off x="7726680" y="222199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纯文本 LLM 容易产生地理不一致预测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7735824" y="302666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18704" y="2971800"/>
            <a:ext cx="3566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经纬度不是普通文本，数字 token 相近不代表空间相近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7735824" y="3593592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8704" y="3538728"/>
            <a:ext cx="3566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语义上合理的地点，可能在真实城市空间上不可达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7735824" y="416052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4105656"/>
            <a:ext cx="3566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需要把地理连续性作为可学习约束注入输入空间</a:t>
            </a:r>
            <a:endParaRPr lang="en-US" sz="14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GCIM：层级离散编码 + 连续频域编码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将地理约束结构化注入 LLM 语义空间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19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1965960"/>
            <a:ext cx="914400" cy="914400"/>
          </a:xfrm>
          <a:prstGeom prst="ellipse">
            <a:avLst/>
          </a:prstGeom>
          <a:solidFill>
            <a:srgbClr val="5D6772"/>
          </a:solidFill>
          <a:ln w="12700">
            <a:solidFill>
              <a:srgbClr val="5D67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坐标 gᵢ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71800" y="1965960"/>
            <a:ext cx="914400" cy="914400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Quadkey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7764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20640" y="1965960"/>
            <a:ext cx="914400" cy="914400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Fourier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1965960"/>
            <a:ext cx="914400" cy="9144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融合投影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E_gps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7532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8320" y="1965960"/>
            <a:ext cx="914400" cy="9144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输入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&lt;GPS&gt;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2688" y="3730752"/>
            <a:ext cx="53035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E_gps = W_gps · [HDE(g); CSE(g)]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0976" y="4224528"/>
            <a:ext cx="52120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GAL 损失约束嵌入距离与真实测地距离一致</a:t>
            </a:r>
            <a:endParaRPr lang="en-US" sz="1400" dirty="0"/>
          </a:p>
        </p:txBody>
      </p:sp>
      <p:pic>
        <p:nvPicPr>
          <p:cNvPr id="32" name="Image 0" descr="平均地理误差距离对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703320"/>
            <a:ext cx="4315968" cy="16916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315200" y="534924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38.69%</a:t>
            </a:r>
            <a:endParaRPr lang="en-US" sz="3100" dirty="0"/>
          </a:p>
        </p:txBody>
      </p:sp>
      <p:sp>
        <p:nvSpPr>
          <p:cNvPr id="34" name="Text 31"/>
          <p:cNvSpPr/>
          <p:nvPr/>
        </p:nvSpPr>
        <p:spPr>
          <a:xfrm>
            <a:off x="7342632" y="587959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 平均地理误差相对下降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PAM：把 POI 图结构映射到 LLM 语义空间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解决“结构信息可用，但语言模型难以读取”的跨空间鸿沟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20</a:t>
            </a:r>
            <a:endParaRPr lang="en-US" sz="850" dirty="0"/>
          </a:p>
        </p:txBody>
      </p:sp>
      <p:pic>
        <p:nvPicPr>
          <p:cNvPr id="16" name="Image 0" descr="PAM动机示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61872"/>
            <a:ext cx="4846320" cy="3429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63640" y="1554480"/>
            <a:ext cx="42062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E_poi = W_p · e_poi + b_p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6327648" y="256946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2514600"/>
            <a:ext cx="44805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输入：小模型/图模型产生的 POI 结构嵌入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27648" y="3099816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044952"/>
            <a:ext cx="44805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映射：结构空间 → LLM 语义空间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327648" y="3630168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3575304"/>
            <a:ext cx="44805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作用：缺少直接目标线索时，提高候选可检索性与可排序性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355080" y="5047488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+52.98%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6382512" y="5577840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 缺失目标场景 Acc@1 相对提升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协同训练：先对齐，后协同；推理保持单路输出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协同发生在训练期与表示空间，不是在线分数融合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训练策略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 TSPM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POI 结构嵌入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55064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48456" y="1874520"/>
            <a:ext cx="658368" cy="658368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48456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Stage-1 对齐预热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48456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 LLM 主体，训练 GCIM/PAM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34840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28232" y="1874520"/>
            <a:ext cx="658368" cy="65836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8232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Stage-2 协同训练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28232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+ GCIM/PAM，优化生成与对齐目标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14616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08008" y="1874520"/>
            <a:ext cx="658368" cy="658368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08008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推理阶段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08008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beam search 直接生成 Top-K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084832" y="4892040"/>
            <a:ext cx="685800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A441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ℒ_total = ℒ_gen + λ₂ℒ_geo + λ₃ℒ_align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2304288" y="5504688"/>
            <a:ext cx="64008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不引入候选约束解码 · 不在线重排序 · 不调用 TSPM 实时打分</a:t>
            </a:r>
            <a:endParaRPr lang="en-US" sz="14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用主结果、消融、诊断和效率分析构成证据闭环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双路线分别验证结构分支与语义分支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消融实验定位 TSDG / BTM / GCIM / PAM 贡献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空间诊断、困难样本和效率分析支撑可部署性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实验设置：母数据集与城市子集双路线验证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统一数据切分、评价指标与显著性检验，避免评估口径漂移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实验设置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731520" y="1417320"/>
          <a:ext cx="9144000" cy="1947672"/>
        </p:xfrm>
        <a:graphic>
          <a:graphicData uri="http://schemas.openxmlformats.org/drawingml/2006/table">
            <a:tbl>
              <a:tblPr/>
              <a:tblGrid>
                <a:gridCol w="1143000"/>
                <a:gridCol w="1325880"/>
                <a:gridCol w="1325880"/>
                <a:gridCol w="1143000"/>
                <a:gridCol w="1600200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POI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签到数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NYC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1,048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4,981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318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103,941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TKY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2,282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7,833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290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405,000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3,957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9,690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334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238,369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543800" y="1444752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路线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552944" y="1828800"/>
            <a:ext cx="2926080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Gowalla / Foursquare 母数据集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验证时间分槽、双向转移、动态图机制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43800" y="2852928"/>
            <a:ext cx="173736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路线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552944" y="3236976"/>
            <a:ext cx="3063240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NYC / TKY / CA 城市或区域子集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验证地理注入、转移对齐与跨城泛化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68680" y="4837176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782312"/>
            <a:ext cx="71323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80%/10%/10% 按时间顺序划分</a:t>
            </a:r>
            <a:endParaRPr lang="en-US" sz="1380" dirty="0"/>
          </a:p>
        </p:txBody>
      </p:sp>
      <p:sp>
        <p:nvSpPr>
          <p:cNvPr id="23" name="Shape 20"/>
          <p:cNvSpPr/>
          <p:nvPr/>
        </p:nvSpPr>
        <p:spPr>
          <a:xfrm>
            <a:off x="868680" y="5230368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6" name="Text 21"/>
          <p:cNvSpPr/>
          <p:nvPr/>
        </p:nvSpPr>
        <p:spPr>
          <a:xfrm>
            <a:off x="1051560" y="5175504"/>
            <a:ext cx="71323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Acc@1 / Acc@5 / Acc@10 / MRR / NDCG@K</a:t>
            </a:r>
            <a:endParaRPr lang="en-US" sz="1380" dirty="0"/>
          </a:p>
        </p:txBody>
      </p:sp>
      <p:sp>
        <p:nvSpPr>
          <p:cNvPr id="25" name="Shape 22"/>
          <p:cNvSpPr/>
          <p:nvPr/>
        </p:nvSpPr>
        <p:spPr>
          <a:xfrm>
            <a:off x="868680" y="562356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5568696"/>
            <a:ext cx="71323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个随机种子，paired t-test，p &lt; 0.05</a:t>
            </a:r>
            <a:endParaRPr lang="en-US" sz="13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主结果：两条路线在各自场景中均取得稳定增益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验证结构分支，GA-LLM 验证地理注入与转移对齐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1335024"/>
            <a:ext cx="42976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相对 Graph-Flashback 提升（%）</a:t>
            </a:r>
            <a:endParaRPr lang="en-US" sz="13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13232" y="1664208"/>
          <a:ext cx="4800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144768" y="1335024"/>
            <a:ext cx="44805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相对最强非本文基线提升（%）</a:t>
            </a:r>
            <a:endParaRPr lang="en-US" sz="135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5989320" y="1664208"/>
          <a:ext cx="5166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96012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0.3988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98755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在 NYC 上 Acc@1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397764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0.1595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400507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在 Gowalla 上 Acc@1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6995160" y="4983480"/>
            <a:ext cx="374904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说明：提升不是单一指标偶然变化，而是在命中率与排序质量上同步改善。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消融与空间诊断：GCIM 是主要地理收益来源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 / BTM / GCIM / PAM 均有独立贡献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1353312"/>
            <a:ext cx="228600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消融（Acc@1）</a:t>
            </a:r>
            <a:endParaRPr lang="en-US" sz="13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13232" y="1664208"/>
          <a:ext cx="4663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8" name="Image 0" descr="地理距离误差分布分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4709160" cy="2057400"/>
          </a:xfrm>
          <a:prstGeom prst="rect">
            <a:avLst/>
          </a:prstGeom>
        </p:spPr>
      </p:pic>
      <p:pic>
        <p:nvPicPr>
          <p:cNvPr id="19" name="Image 1" descr="平均地理误差距离对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639312"/>
            <a:ext cx="4709160" cy="1572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4736592"/>
            <a:ext cx="1005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诊断结论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719072" y="4681728"/>
            <a:ext cx="397764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使错误分布向近距离移动；CA 平均地理误差由 61.38 km 降至 37.63 km。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机制证据与效率：困难样本受益，成本保持可控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在目标缺失场景补偿结构先验，LoRA 与结构化注入控制开销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26</a:t>
            </a:r>
            <a:endParaRPr lang="en-US" sz="850" dirty="0"/>
          </a:p>
        </p:txBody>
      </p:sp>
      <p:pic>
        <p:nvPicPr>
          <p:cNvPr id="16" name="Image 0" descr="PAM模块作用分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98448"/>
            <a:ext cx="4754880" cy="2514600"/>
          </a:xfrm>
          <a:prstGeom prst="rect">
            <a:avLst/>
          </a:prstGeom>
        </p:spPr>
      </p:pic>
      <p:pic>
        <p:nvPicPr>
          <p:cNvPr id="17" name="Image 1" descr="效率与资源开销对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8448"/>
            <a:ext cx="4892040" cy="2514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4370832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+52.98%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941832" y="4901184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在 CA 缺失目标场景的 Acc@1 相对提升</a:t>
            </a:r>
            <a:endParaRPr lang="en-US" sz="1180" dirty="0"/>
          </a:p>
        </p:txBody>
      </p:sp>
      <p:sp>
        <p:nvSpPr>
          <p:cNvPr id="20" name="Text 16"/>
          <p:cNvSpPr/>
          <p:nvPr/>
        </p:nvSpPr>
        <p:spPr>
          <a:xfrm>
            <a:off x="6144768" y="4370832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6172200" y="4901184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参数高效微调，避免全参更新成本激增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914400" y="5486400"/>
            <a:ext cx="1005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部署口径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828800" y="5413248"/>
            <a:ext cx="8138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训练期完成知识对齐，推理期保持 GA-LLM 单路输出，在精度提升与工程可部署性之间取得平衡。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总结创新贡献，并说明后续可扩展方向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协同框架兼顾结构表达与语义泛化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验证闭环覆盖精度、泛化、可解释性和成本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后续引入多模态上下文与在线自适应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结论与展望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结构-语义协同为高约束时空推荐提供可复用框架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150876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2139696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084832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协同框架兼顾结构表达与语义泛化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822960" y="2798064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743200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TSDG/BTM 提升时间异质与路径转移建模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22960" y="3456432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401568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GCIM/PAM 改善地理一致性、跨场景泛化与效率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590288" y="150876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8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90288" y="2139696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084832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问题层：显式化结构信息难注入 LLM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4590288" y="2798064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43200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方法层：GCIM + PAM 两条互补注入路径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4590288" y="3456432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401568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验证层：主结果、消融、诊断、效率闭环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357616" y="150876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后续工作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57616" y="2139696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084832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引入天气、交通、节假日等多模态上下文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8357616" y="2798064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2743200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研究细粒度跨城迁移与在线自适应</a:t>
            </a:r>
            <a:endParaRPr lang="en-US" sz="1330" dirty="0"/>
          </a:p>
        </p:txBody>
      </p:sp>
      <p:sp>
        <p:nvSpPr>
          <p:cNvPr id="35" name="Shape 33"/>
          <p:cNvSpPr/>
          <p:nvPr/>
        </p:nvSpPr>
        <p:spPr>
          <a:xfrm>
            <a:off x="8357616" y="3456432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3401568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优化生成链路、缓存更新与端到端时延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2999232" y="5724144"/>
            <a:ext cx="61722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谢谢各位老师批评指正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3401568"/>
            <a:ext cx="4773168" cy="45720"/>
          </a:xfrm>
          <a:prstGeom prst="rect">
            <a:avLst/>
          </a:prstGeom>
          <a:solidFill>
            <a:srgbClr val="1E2732">
              <a:alpha val="96000"/>
            </a:srgbClr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1648" y="1572768"/>
            <a:ext cx="4114800" cy="6583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DEE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74920" y="2487168"/>
            <a:ext cx="2057400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谢谢！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84064" y="4709160"/>
            <a:ext cx="2029968" cy="47548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4846320"/>
            <a:ext cx="13258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0" y="3749040"/>
            <a:ext cx="39776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欢迎各位老师批评指正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TABLE_ENDDRAG_ORIGIN_RECT" val="387*104"/>
  <p:tag name="TABLE_ENDDRAG_RECT" val="507*208*387*104"/>
</p:tagLst>
</file>

<file path=ppt/tags/tag66.xml><?xml version="1.0" encoding="utf-8"?>
<p:tagLst xmlns:p="http://schemas.openxmlformats.org/presentationml/2006/main">
  <p:tag name="commondata" val="eyJoZGlkIjoiNDliYjhkYTI4NjNmMWQ4YWZlOTlmZDI1YTVmM2U2Mm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6295</Words>
  <Application>WPS 文字</Application>
  <PresentationFormat>宽屏</PresentationFormat>
  <Paragraphs>1124</Paragraphs>
  <Slides>31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6" baseType="lpstr">
      <vt:lpstr>Arial</vt:lpstr>
      <vt:lpstr>宋体</vt:lpstr>
      <vt:lpstr>Wingdings</vt:lpstr>
      <vt:lpstr>Wingdings</vt:lpstr>
      <vt:lpstr>Menlo</vt:lpstr>
      <vt:lpstr>Menlo</vt:lpstr>
      <vt:lpstr>Menlo</vt:lpstr>
      <vt:lpstr>微软雅黑</vt:lpstr>
      <vt:lpstr>汉仪旗黑</vt:lpstr>
      <vt:lpstr>微软雅黑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Arial</vt:lpstr>
      <vt:lpstr>Arial</vt:lpstr>
      <vt:lpstr>BatangChe</vt:lpstr>
      <vt:lpstr>Apple SD Gothic Neo</vt:lpstr>
      <vt:lpstr>DejaVuMathTeXGyre</vt:lpstr>
      <vt:lpstr>宋体-简</vt:lpstr>
      <vt:lpstr>苹方-简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大钊</cp:lastModifiedBy>
  <cp:revision>175</cp:revision>
  <dcterms:created xsi:type="dcterms:W3CDTF">2026-04-27T10:54:57Z</dcterms:created>
  <dcterms:modified xsi:type="dcterms:W3CDTF">2026-04-27T10:54:57Z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D873925EC426F1E6CC3DEF69D8843114_43</vt:lpwstr>
  </property>
</Properties>
</file>